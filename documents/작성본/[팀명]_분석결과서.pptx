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914400"/>
            <a:ext cx="5394960" cy="5394960"/>
          </a:xfrm>
          <a:prstGeom prst="arc">
            <a:avLst/>
          </a:prstGeom>
          <a:solidFill>
            <a:srgbClr val="2A9D8F">
              <a:alpha val="18000"/>
            </a:srgbClr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914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C957"/>
                </a:solidFill>
              </a:rPr>
              <a:t>실시간 도시데이터 기반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408176"/>
            <a:ext cx="603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서울 상권 활력 예측 및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의사결정 지원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251960" y="1481328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50m 격자 단위 평시 상권 체력과 실시간 인구·교통·날씨·행사 신호를 결합한 최종 활력 점수 산출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61104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</a:rPr>
              <a:t>337개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261104" y="340156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분석 격자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630936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76F51"/>
                </a:solidFill>
              </a:rPr>
              <a:t>20개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309360" y="340156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직접 실시간 격자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54964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</a:rPr>
              <a:t>11.641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549640" y="340156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최고 활력 점수</a:t>
            </a:r>
            <a:endParaRPr lang="en-US" sz="880" dirty="0"/>
          </a:p>
        </p:txBody>
      </p:sp>
      <p:pic>
        <p:nvPicPr>
          <p:cNvPr id="13" name="Image 0" descr="C:\Dev\projects\DeepLearning\outputs\citywide_vitality\citywide_vitality_heatmap_covered_area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4005072"/>
            <a:ext cx="6583680" cy="2057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개요: 정적 상권 지표만으로는 현재 활력을 설명하기 어렵다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평시 잠재력과 지금의 도시 신호를 같은 격자 위에서 결합하는 것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76656" y="1554480"/>
            <a:ext cx="3337560" cy="126187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554480"/>
            <a:ext cx="73152" cy="12618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1719072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문제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05256" y="2029968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유동·소비·교통·날씨·행사가 시간대별로 엇갈리며 상권 활력이 빠르게 변한다.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4434840" y="1554480"/>
            <a:ext cx="3337560" cy="126187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554480"/>
            <a:ext cx="73152" cy="1261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19072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접근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029968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50m 격자 단위의 기본 상권 체력과 실시간 보정 신호를 분리해 학습한다.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3337560" cy="126187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1554480"/>
            <a:ext cx="73152" cy="1261872"/>
          </a:xfrm>
          <a:prstGeom prst="rect">
            <a:avLst/>
          </a:prstGeom>
          <a:solidFill>
            <a:srgbClr val="A7C957"/>
          </a:solidFill>
          <a:ln w="12700">
            <a:solidFill>
              <a:srgbClr val="A7C9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1624" y="1719072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결과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21624" y="2029968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격자별 final_score와 score_source를 함께 제공해 해석 가능한 의사결정을 지원한다.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868680" y="3493008"/>
            <a:ext cx="103327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상권 추천, 혼잡 완화, 행사·관광 운영 등 즉시성이 필요한 현장 의사결정에 초점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관측이 없는 격자도 장소·이웃 기반 전파로 추정하되 산출 방식을 명시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 범위는 커버 지역 분석이며, 서울 전역 확장은 동일 파이프라인으로 가능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목적: ‘어디가 원래 강한가’와 ‘지금 뜨는가’를 분리해 본다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점수는 장기 잠재력과 현재 변화 신호의 합성 지표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653"/>
                </a:solidFill>
              </a:rPr>
              <a:t>base_score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505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격자의 평시 상권 체력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유동·소비·접근성·임대 proxy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95344" y="2331720"/>
            <a:ext cx="502920" cy="502920"/>
          </a:xfrm>
          <a:prstGeom prst="plus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965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</a:rPr>
              <a:t>correction_score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245059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현재 시점 보정 신호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실시간 인구·교통·날씨·행사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258568"/>
            <a:ext cx="731520" cy="502920"/>
          </a:xfrm>
          <a:prstGeom prst="rightArrow">
            <a:avLst/>
          </a:prstGeom>
          <a:solidFill>
            <a:srgbClr val="A7C957"/>
          </a:solidFill>
          <a:ln w="12700">
            <a:solidFill>
              <a:srgbClr val="A7C9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89720" y="1965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</a:rPr>
              <a:t>final_score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89720" y="245059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방문·운영·정책 판단에 쓰는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최종 활력 점수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7552" y="3886200"/>
            <a:ext cx="99669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279392"/>
            <a:ext cx="96926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점수가 높고 보정 점수도 높으면 안정적으로 활력 높은 격자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점수가 낮아도 보정 점수가 높으면 특정 시점에 반짝이는 후보지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점수가 낮으면 기존 강상권이라도 현재 상황에서는 체감 활력이 약할 수 있음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 데이터: 50m 격자 공통키로 상권·도시 신호를 연결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빅데이터캠퍼스 핵심 데이터와 실시간 도시데이터를 분석 가능한 테이블로 표준화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4389120"/>
        </p:xfrm>
        <a:graphic>
          <a:graphicData uri="http://schemas.openxmlformats.org/drawingml/2006/table">
            <a:tbl>
              <a:tblPr/>
              <a:tblGrid>
                <a:gridCol w="1508760"/>
                <a:gridCol w="653796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변수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상권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유동인구, 카드 매출·건수, 시간 집중도, 평일/주말 차이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base_score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환경·접근성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강우, 교통 접근성 proxy, 임대료/상권강도 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base_score 보강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신호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인구 규모·증감, 교통 혼잡, 대중교통 변화, 기온·강우, 행사·휴일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correction_score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공간 매핑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place_code, grid_id, weight, 좌표, 행정구 경계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 신호의 격자화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검증·산출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final_actual, validation predictions, metrics_summary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성능 점검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1481328"/>
            <a:ext cx="10789920" cy="41148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60020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데이터 구분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67712" y="1600200"/>
            <a:ext cx="6126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주요 변수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842248" y="160020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역할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전처리: 원천 데이터를 모델 입력 CSV로 변환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격자, 결측 처리, 표준화, 시계열 샘플링을 같은 파이프라인에서 수행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3232" y="1874520"/>
            <a:ext cx="1783080" cy="1325880"/>
          </a:xfrm>
          <a:prstGeom prst="roundRect">
            <a:avLst>
              <a:gd name="adj" fmla="val 2069"/>
            </a:avLst>
          </a:prstGeom>
          <a:solidFill>
            <a:srgbClr val="E8F5F2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2996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3957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원천 데이터 적재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27706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C6B73"/>
                </a:solidFill>
              </a:rPr>
              <a:t>유동·소비·날씨·교통·장소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2569464" y="2304288"/>
            <a:ext cx="301752" cy="475488"/>
          </a:xfrm>
          <a:prstGeom prst="chevron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0944" y="1874520"/>
            <a:ext cx="1783080" cy="13258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8104" y="202996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63824" y="23957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50m 격자 정렬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63824" y="27706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C6B73"/>
                </a:solidFill>
              </a:rPr>
              <a:t>grid_id 중심 병합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837176" y="2304288"/>
            <a:ext cx="301752" cy="475488"/>
          </a:xfrm>
          <a:prstGeom prst="chevron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48656" y="1874520"/>
            <a:ext cx="1783080" cy="1325880"/>
          </a:xfrm>
          <a:prstGeom prst="roundRect">
            <a:avLst>
              <a:gd name="adj" fmla="val 2069"/>
            </a:avLst>
          </a:prstGeom>
          <a:solidFill>
            <a:srgbClr val="E8F5F2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85816" y="202996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31536" y="23957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특성 생성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31536" y="27706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C6B73"/>
                </a:solidFill>
              </a:rPr>
              <a:t>평시/실시간 feature 구성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7104888" y="2304288"/>
            <a:ext cx="301752" cy="475488"/>
          </a:xfrm>
          <a:prstGeom prst="chevron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16368" y="1874520"/>
            <a:ext cx="1783080" cy="13258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3528" y="202996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99248" y="23957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모델 입력 생성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99248" y="27706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C6B73"/>
                </a:solidFill>
              </a:rPr>
              <a:t>base_train, correction_train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9372600" y="2304288"/>
            <a:ext cx="301752" cy="475488"/>
          </a:xfrm>
          <a:prstGeom prst="chevron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1874520"/>
            <a:ext cx="1783080" cy="1325880"/>
          </a:xfrm>
          <a:prstGeom prst="roundRect">
            <a:avLst>
              <a:gd name="adj" fmla="val 2069"/>
            </a:avLst>
          </a:prstGeom>
          <a:solidFill>
            <a:srgbClr val="E8F5F2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1240" y="202996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66960" y="23957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산출물 저장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966960" y="27706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C6B73"/>
                </a:solidFill>
              </a:rPr>
              <a:t>scores, metrics, heatmap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914400" y="4096512"/>
            <a:ext cx="99669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MLP 입력은 2차원 tabular feature, Correction LSTM 입력은 grid별 최근 4개 시점 sequence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변수는 0 또는 proxy로 보강하고, StandardScaler로 학습 안정성 확보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임시 폴더 이슈를 줄이기 위해 프로젝트 내부 tmp 경로와 seed 고정 적용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구조: Base MLP와 Correction LSTM의 이중 예측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잠재력과 시간 흐름을 서로 다른 모델이 담당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3246120" cy="3611880"/>
          </a:xfrm>
          <a:prstGeom prst="roundRect">
            <a:avLst>
              <a:gd name="adj" fmla="val 845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72768"/>
            <a:ext cx="73152" cy="361188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Base MLP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048256"/>
            <a:ext cx="286207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입력: avg_flow, card_sales, rainfall, access, rent proxy 등 9개 내외 정적 feature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구조: Linear-BatchNorm-ReLU-Dropout 반복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출력: 격자의 평시 상권 체력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4480560" y="1572768"/>
            <a:ext cx="3246120" cy="3611880"/>
          </a:xfrm>
          <a:prstGeom prst="roundRect">
            <a:avLst>
              <a:gd name="adj" fmla="val 845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572768"/>
            <a:ext cx="73152" cy="3611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73736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Correction LSTM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2048256"/>
            <a:ext cx="286207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입력: 최근 4개 시점의 실시간 인구·교통·날씨·행사 feature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구조: 2-layer LSTM + FC head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출력: 현재 시점 보정값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8183880" y="1572768"/>
            <a:ext cx="3246120" cy="3611880"/>
          </a:xfrm>
          <a:prstGeom prst="roundRect">
            <a:avLst>
              <a:gd name="adj" fmla="val 845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572768"/>
            <a:ext cx="73152" cy="3611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73736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Fusion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2048256"/>
            <a:ext cx="286207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final_score = base_score + correction_score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해석: 장기 상권 잠재력과 지금의 변화를 동시에 반영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산출: CSV, JSON, heatmap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MLP: 평시 상권 체력을 학습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유동·소비·접근성의 구조적 강도를 격자별 기준 점수로 변환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</a:rPr>
              <a:t>9.88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07568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Base 검증 RMSE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01752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</a:rPr>
              <a:t>7.62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017520" y="207568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Base 검증 MAE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16636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76F51"/>
                </a:solidFill>
              </a:rPr>
              <a:t>최대 100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166360" y="207568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학습 반복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223760" y="1600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7C957"/>
                </a:solidFill>
              </a:rPr>
              <a:t>patience 12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2075688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Early stopping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896112" y="3154680"/>
            <a:ext cx="56692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소비와 유동인구는 상권의 기본 수요를, 시간 집중도와 평일/주말 차이는 이용 패턴을 설명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HuberLoss를 사용해 큰 이상치가 많은 도시·소비 데이터에서 손실 안정성 확보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BatchNorm, Dropout, AdamW, Gradient clipping으로 소규모 격자 데이터의 과적합 리스크를 완화</a:t>
            </a:r>
            <a:endParaRPr lang="en-US" sz="1230" dirty="0"/>
          </a:p>
        </p:txBody>
      </p:sp>
      <p:pic>
        <p:nvPicPr>
          <p:cNvPr id="15" name="Image 0" descr="C:\Dev\projects\DeepLearning\documents\generated_analysis_assets\scor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907792"/>
            <a:ext cx="4251960" cy="2240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Correction LSTM: 실시간 변화 신호를 시간 흐름으로 반영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4개 시점의 변화를 보고 현재 활력 보정값을 예측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16276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76F51"/>
                </a:solidFill>
              </a:rPr>
              <a:t>1.12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41248" y="2103120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Correction RMSE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035808" y="16276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</a:rPr>
              <a:t>1.02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035808" y="210312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Correction MAE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102352" y="1627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</a:rPr>
              <a:t>0.50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102352" y="2103120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Spearman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9875520" cy="0"/>
          </a:xfrm>
          <a:prstGeom prst="line">
            <a:avLst/>
          </a:prstGeom>
          <a:noFill/>
          <a:ln w="15240">
            <a:solidFill>
              <a:srgbClr val="D8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99923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2A9D8F">
              <a:alpha val="92000"/>
            </a:srgbClr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0678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t-3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243584" y="3310128"/>
            <a:ext cx="0" cy="64008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299923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2A9D8F">
              <a:alpha val="92000"/>
            </a:srgbClr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44368" y="30678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t-2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163824" y="3310128"/>
            <a:ext cx="0" cy="64008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99923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2A9D8F">
              <a:alpha val="92000"/>
            </a:srgbClr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0678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t-1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084064" y="3310128"/>
            <a:ext cx="0" cy="64008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299923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76F51">
              <a:alpha val="92000"/>
            </a:srgbClr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30678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t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004304" y="3310128"/>
            <a:ext cx="0" cy="64008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2743200"/>
            <a:ext cx="1965960" cy="126187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0" y="2743200"/>
            <a:ext cx="73152" cy="12618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2907792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보정값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06840" y="3218688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현재 시점의 활력 상승·하락 방향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896112" y="4572000"/>
            <a:ext cx="95097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인구 증가율, 교통 혼잡도, 대중교통 변화, 기온·강우, 행사·휴일 여부를 사용</a:t>
            </a:r>
            <a:endParaRPr lang="en-US" sz="1180" dirty="0"/>
          </a:p>
          <a:p>
            <a:pPr marL="152400" indent="-152400">
              <a:buSzPct val="100000"/>
              <a:buChar char="•"/>
            </a:pPr>
            <a:r>
              <a:rPr lang="en-US" sz="11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정적인 강상권 여부와 별개로 ‘지금 더 붐비는가’를 반영</a:t>
            </a:r>
            <a:endParaRPr lang="en-US" sz="1180" dirty="0"/>
          </a:p>
          <a:p>
            <a:pPr marL="152400" indent="-152400">
              <a:buSzPct val="100000"/>
              <a:buChar char="•"/>
            </a:pPr>
            <a:r>
              <a:rPr lang="en-US" sz="11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Spearman 0.50은 순위형 활용 가능성을 보여주며, 실제 운영에서는 누적 데이터로 재학습 필요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점수: 해석 가능한 단순 결합으로 운영 의사결정에 연결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base_score와 correction_score를 분리 보관해 사후 설명 가능성을 높임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86384" y="1572768"/>
            <a:ext cx="4892040" cy="1078992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572768"/>
            <a:ext cx="73152" cy="10789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73736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높은 base + 높은 correction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4984" y="2048256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원래 강하고 지금도 좋은 후보지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6181344" y="1572768"/>
            <a:ext cx="4892040" cy="1078992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81344" y="1572768"/>
            <a:ext cx="73152" cy="10789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73736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높은 base + 낮은 correction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9944" y="2048256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잠재력은 높지만 현재 상황은 약함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786384" y="3172968"/>
            <a:ext cx="4892040" cy="1078992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172968"/>
            <a:ext cx="73152" cy="10789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333756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낮은 base + 높은 correction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4984" y="3648456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특정 시점에 반짝이는 이벤트형 후보지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6181344" y="3172968"/>
            <a:ext cx="4892040" cy="1078992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3172968"/>
            <a:ext cx="73152" cy="1078992"/>
          </a:xfrm>
          <a:prstGeom prst="rect">
            <a:avLst/>
          </a:prstGeom>
          <a:solidFill>
            <a:srgbClr val="5C6B73"/>
          </a:solidFill>
          <a:ln w="12700">
            <a:solidFill>
              <a:srgbClr val="5C6B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333756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낮은 base + 낮은 correction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9944" y="3648456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추천 우선순위 낮음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2011680" y="50749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64653"/>
                </a:solidFill>
              </a:rPr>
              <a:t>final_score = base_score + correction_score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2148840" y="56052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C6B73"/>
                </a:solidFill>
              </a:rPr>
              <a:t>단순한 결합식을 채택해 점수 변화의 원인을 base와 correction으로 나눠 확인할 수 있게 설계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API-격자 매핑: 장소 단위 신호를 50m 격자로 변환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실시간 도시데이터의 장소 정보를 grid_id와 weight로 재집계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2468880" cy="123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72768"/>
            <a:ext cx="73152" cy="123444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장소 카탈로그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048256"/>
            <a:ext cx="20848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서울 주요 장소의 place_code, 중심 좌표, 반경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3429000" y="1901952"/>
            <a:ext cx="685800" cy="411480"/>
          </a:xfrm>
          <a:prstGeom prst="rightArrow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572768"/>
            <a:ext cx="2468880" cy="123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572768"/>
            <a:ext cx="73152" cy="1234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73736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공간 조인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2048256"/>
            <a:ext cx="20848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장소 polygon 내부 또는 주변 grid 탐색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6949440" y="1901952"/>
            <a:ext cx="685800" cy="411480"/>
          </a:xfrm>
          <a:prstGeom prst="rightArrow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1572768"/>
            <a:ext cx="2468880" cy="123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1572768"/>
            <a:ext cx="73152" cy="1234440"/>
          </a:xfrm>
          <a:prstGeom prst="rect">
            <a:avLst/>
          </a:prstGeom>
          <a:solidFill>
            <a:srgbClr val="A7C957"/>
          </a:solidFill>
          <a:ln w="12700">
            <a:solidFill>
              <a:srgbClr val="A7C9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73736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가중 전파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2048256"/>
            <a:ext cx="20848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유동량 비중과 거리 기반 confidence 반영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932688" y="3794760"/>
            <a:ext cx="98755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관측된 장소 신호는 grid 단위 correction_infer_live_spatial로 변환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관측 격자 주변에는 장소·이웃 기반 confidence를 계산해 HYBRID_PROPAGATED로 확장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방식은 DIRECT_LIVE, PLACE_PROPAGATED, HYBRID_PROPAGATED, BASE_ONLY로 구분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범위: 현재는 커버 지역 중심, 전역 확장 가능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실시간 관측 20개를 시작점으로 총 337개 격자에 점수 산출</a:t>
            </a:r>
            <a:endParaRPr lang="en-US" sz="1050" dirty="0"/>
          </a:p>
        </p:txBody>
      </p:sp>
      <p:pic>
        <p:nvPicPr>
          <p:cNvPr id="6" name="Image 0" descr="C:\Dev\projects\DeepLearning\outputs\coverage\base_grid_coverag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463040"/>
            <a:ext cx="498348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</a:rPr>
              <a:t>337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0" y="212140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총 산출 격자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836676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76F51"/>
                </a:solidFill>
              </a:rPr>
              <a:t>20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366760" y="212140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직접 관측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10058400" y="1645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</a:rPr>
              <a:t>8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0058400" y="212140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주요 장소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6400800" y="3154680"/>
            <a:ext cx="4663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 제출용 해석에서는 ‘현재 커버 지역 분석’으로 명시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full_seoul_coverage=False이므로 서울 전역 절대 순위로 과대 해석하지 않음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행정구 경계와 격자 좌표가 준비되어 있어 데이터 보강 시 전역 확장 가능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개요: 평균 4.29, 최고 11.64의 격자별 활력 점수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격자는 관광·문화·상업 기능이 겹친 도심부에 집중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</a:rPr>
              <a:t>4.288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41248" y="212140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평균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</a:rPr>
              <a:t>1.21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212140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표준편차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279392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C6B73"/>
                </a:solidFill>
              </a:rPr>
              <a:t>1.324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79392" y="2121408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최소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806440" y="1645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76F51"/>
                </a:solidFill>
              </a:rPr>
              <a:t>11.641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806440" y="212140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B73"/>
                </a:solidFill>
              </a:rPr>
              <a:t>최대</a:t>
            </a:r>
            <a:endParaRPr lang="en-US" sz="880" dirty="0"/>
          </a:p>
        </p:txBody>
      </p:sp>
      <p:pic>
        <p:nvPicPr>
          <p:cNvPr id="14" name="Image 0" descr="C:\Dev\projects\DeepLearning\documents\generated_analysis_assets\scor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508760"/>
            <a:ext cx="3840480" cy="21488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6112" y="4160520"/>
            <a:ext cx="96926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격자는 북촌한옥마을 영향권으로 나타났으며 final_score_citywide 11.641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중앙값은 4.03으로 상위 일부 격자가 평균을 끌어올리는 분포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보정값은 규모가 작지만 순위 미세 조정과 이벤트성 상승 포착에 기여</a:t>
            </a:r>
            <a:endParaRPr lang="en-US" sz="1230" dirty="0"/>
          </a:p>
        </p:txBody>
      </p:sp>
      <p:sp>
        <p:nvSpPr>
          <p:cNvPr id="16" name="Text 13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활력 히트맵: 도심 관광·상권 축에서 높은 점수가 관찰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점수를 공간적으로 시각화해 우선 관리·추천 후보지를 식별</a:t>
            </a:r>
            <a:endParaRPr lang="en-US" sz="1050" dirty="0"/>
          </a:p>
        </p:txBody>
      </p:sp>
      <p:pic>
        <p:nvPicPr>
          <p:cNvPr id="6" name="Image 0" descr="C:\Dev\projects\DeepLearning\outputs\citywide_vitality\citywide_vitality_heatmap_covered_area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53312"/>
            <a:ext cx="6492240" cy="4828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79792" y="1508760"/>
            <a:ext cx="3520440" cy="123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79792" y="1508760"/>
            <a:ext cx="73152" cy="1234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08392" y="1673352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읽는 방법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08392" y="1984248"/>
            <a:ext cx="3136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색이 진할수록 final_score_citywide가 높고, 격자 단위 우선순위가 높다.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7479792" y="2999232"/>
            <a:ext cx="3520440" cy="123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79792" y="2999232"/>
            <a:ext cx="73152" cy="1234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08392" y="3163824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해석 유의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08392" y="3474720"/>
            <a:ext cx="3136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현재 산출은 커버 지역 중심 분석이며 서울 전역 완전 커버리지가 아니다.</a:t>
            </a:r>
            <a:endParaRPr lang="en-US" sz="910" dirty="0"/>
          </a:p>
        </p:txBody>
      </p:sp>
      <p:sp>
        <p:nvSpPr>
          <p:cNvPr id="15" name="Shape 12"/>
          <p:cNvSpPr/>
          <p:nvPr/>
        </p:nvSpPr>
        <p:spPr>
          <a:xfrm>
            <a:off x="7479792" y="4498848"/>
            <a:ext cx="3520440" cy="123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79792" y="4498848"/>
            <a:ext cx="73152" cy="123444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08392" y="466344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활용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08392" y="4974336"/>
            <a:ext cx="3136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현장 안내, 행사 운영, 프로모션 타이밍, 방문 분산 정책의 공간 후보지 도출</a:t>
            </a:r>
            <a:endParaRPr lang="en-US" sz="910" dirty="0"/>
          </a:p>
        </p:txBody>
      </p:sp>
      <p:sp>
        <p:nvSpPr>
          <p:cNvPr id="19" name="Text 16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격자: 북촌·창덕궁·서촌 영향권이 상위권 형성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기반 신호와 평시 상권 체력이 함께 높게 나타남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36192"/>
          <a:ext cx="10881360" cy="3063240"/>
        </p:xfrm>
        <a:graphic>
          <a:graphicData uri="http://schemas.openxmlformats.org/drawingml/2006/table">
            <a:tbl>
              <a:tblPr/>
              <a:tblGrid>
                <a:gridCol w="594360"/>
                <a:gridCol w="1325880"/>
                <a:gridCol w="1097280"/>
                <a:gridCol w="2240280"/>
                <a:gridCol w="4983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grid_id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최종점수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score_source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driver_place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5*0*9*3*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11.641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HYBRID_PROPAGATED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Bukchon Hanok Village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5*5*4*6*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7.138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HYBRID_PROPAGATED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Bukchon Hanok Village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5*1*6*9*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6.223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PLACE_PROPAGATED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Changdeokgung Palace &amp; Jongmyo Shrine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5*5*2*3*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6.195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HYBRID_PROPAGATED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Bukchon Hanok Village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5*0*8*6*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6.177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HYBRID_PROPAGATED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Seochon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1536192"/>
            <a:ext cx="10881360" cy="384048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166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상위 격자는 단일 장소가 아니라 관광·보행·상업 활동이 겹친 미세 공간으로 해석해야 한다.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산출 방식: 직접 관측과 전파 추정의 범위를 함께 표시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의사결정자는 score_source를 보고 관측 신뢰도를 구분할 수 있음</a:t>
            </a:r>
            <a:endParaRPr lang="en-US" sz="1050" dirty="0"/>
          </a:p>
        </p:txBody>
      </p:sp>
      <p:pic>
        <p:nvPicPr>
          <p:cNvPr id="6" name="Image 0" descr="C:\Dev\projects\DeepLearning\documents\generated_analysis_assets\score_source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5257800" cy="288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14813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E76F51"/>
                </a:solidFill>
              </a:rPr>
              <a:t>DIRECT_LIVE</a:t>
            </a:r>
            <a:endParaRPr lang="en-US" sz="1060" dirty="0"/>
          </a:p>
        </p:txBody>
      </p:sp>
      <p:sp>
        <p:nvSpPr>
          <p:cNvPr id="8" name="Text 5"/>
          <p:cNvSpPr/>
          <p:nvPr/>
        </p:nvSpPr>
        <p:spPr>
          <a:xfrm>
            <a:off x="8732520" y="14813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" b="1" dirty="0">
                <a:solidFill>
                  <a:srgbClr val="2A9D8F"/>
                </a:solidFill>
              </a:rPr>
              <a:t>20개</a:t>
            </a:r>
            <a:endParaRPr lang="en-US" sz="1060" dirty="0"/>
          </a:p>
        </p:txBody>
      </p:sp>
      <p:sp>
        <p:nvSpPr>
          <p:cNvPr id="9" name="Text 6"/>
          <p:cNvSpPr/>
          <p:nvPr/>
        </p:nvSpPr>
        <p:spPr>
          <a:xfrm>
            <a:off x="6583680" y="177393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C6B73"/>
                </a:solidFill>
              </a:rPr>
              <a:t>서울 실시간 장소 신호가 직접 연결된 격자</a:t>
            </a:r>
            <a:endParaRPr lang="en-US" sz="890" dirty="0"/>
          </a:p>
        </p:txBody>
      </p:sp>
      <p:sp>
        <p:nvSpPr>
          <p:cNvPr id="10" name="Text 7"/>
          <p:cNvSpPr/>
          <p:nvPr/>
        </p:nvSpPr>
        <p:spPr>
          <a:xfrm>
            <a:off x="6583680" y="23957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264653"/>
                </a:solidFill>
              </a:rPr>
              <a:t>PLACE_PROPAGATED</a:t>
            </a:r>
            <a:endParaRPr lang="en-US" sz="1060" dirty="0"/>
          </a:p>
        </p:txBody>
      </p:sp>
      <p:sp>
        <p:nvSpPr>
          <p:cNvPr id="11" name="Text 8"/>
          <p:cNvSpPr/>
          <p:nvPr/>
        </p:nvSpPr>
        <p:spPr>
          <a:xfrm>
            <a:off x="8732520" y="23957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" b="1" dirty="0">
                <a:solidFill>
                  <a:srgbClr val="2A9D8F"/>
                </a:solidFill>
              </a:rPr>
              <a:t>12개</a:t>
            </a:r>
            <a:endParaRPr lang="en-US" sz="1060" dirty="0"/>
          </a:p>
        </p:txBody>
      </p:sp>
      <p:sp>
        <p:nvSpPr>
          <p:cNvPr id="12" name="Text 9"/>
          <p:cNvSpPr/>
          <p:nvPr/>
        </p:nvSpPr>
        <p:spPr>
          <a:xfrm>
            <a:off x="6583680" y="268833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C6B73"/>
                </a:solidFill>
              </a:rPr>
              <a:t>장소 영향권에서 전파된 격자</a:t>
            </a:r>
            <a:endParaRPr lang="en-US" sz="890" dirty="0"/>
          </a:p>
        </p:txBody>
      </p:sp>
      <p:sp>
        <p:nvSpPr>
          <p:cNvPr id="13" name="Text 10"/>
          <p:cNvSpPr/>
          <p:nvPr/>
        </p:nvSpPr>
        <p:spPr>
          <a:xfrm>
            <a:off x="6583680" y="33101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264653"/>
                </a:solidFill>
              </a:rPr>
              <a:t>HYBRID_PROPAGATED</a:t>
            </a:r>
            <a:endParaRPr lang="en-US" sz="1060" dirty="0"/>
          </a:p>
        </p:txBody>
      </p:sp>
      <p:sp>
        <p:nvSpPr>
          <p:cNvPr id="14" name="Text 11"/>
          <p:cNvSpPr/>
          <p:nvPr/>
        </p:nvSpPr>
        <p:spPr>
          <a:xfrm>
            <a:off x="8732520" y="33101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" b="1" dirty="0">
                <a:solidFill>
                  <a:srgbClr val="2A9D8F"/>
                </a:solidFill>
              </a:rPr>
              <a:t>231개</a:t>
            </a:r>
            <a:endParaRPr lang="en-US" sz="1060" dirty="0"/>
          </a:p>
        </p:txBody>
      </p:sp>
      <p:sp>
        <p:nvSpPr>
          <p:cNvPr id="15" name="Text 12"/>
          <p:cNvSpPr/>
          <p:nvPr/>
        </p:nvSpPr>
        <p:spPr>
          <a:xfrm>
            <a:off x="6583680" y="360273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C6B73"/>
                </a:solidFill>
              </a:rPr>
              <a:t>장소·이웃 confidence를 함께 반영</a:t>
            </a:r>
            <a:endParaRPr lang="en-US" sz="890" dirty="0"/>
          </a:p>
        </p:txBody>
      </p:sp>
      <p:sp>
        <p:nvSpPr>
          <p:cNvPr id="16" name="Text 13"/>
          <p:cNvSpPr/>
          <p:nvPr/>
        </p:nvSpPr>
        <p:spPr>
          <a:xfrm>
            <a:off x="6583680" y="42245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264653"/>
                </a:solidFill>
              </a:rPr>
              <a:t>BASE_ONLY</a:t>
            </a:r>
            <a:endParaRPr lang="en-US" sz="1060" dirty="0"/>
          </a:p>
        </p:txBody>
      </p:sp>
      <p:sp>
        <p:nvSpPr>
          <p:cNvPr id="17" name="Text 14"/>
          <p:cNvSpPr/>
          <p:nvPr/>
        </p:nvSpPr>
        <p:spPr>
          <a:xfrm>
            <a:off x="8732520" y="4224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" b="1" dirty="0">
                <a:solidFill>
                  <a:srgbClr val="2A9D8F"/>
                </a:solidFill>
              </a:rPr>
              <a:t>74개</a:t>
            </a:r>
            <a:endParaRPr lang="en-US" sz="1060" dirty="0"/>
          </a:p>
        </p:txBody>
      </p:sp>
      <p:sp>
        <p:nvSpPr>
          <p:cNvPr id="18" name="Text 15"/>
          <p:cNvSpPr/>
          <p:nvPr/>
        </p:nvSpPr>
        <p:spPr>
          <a:xfrm>
            <a:off x="6583680" y="451713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C6B73"/>
                </a:solidFill>
              </a:rPr>
              <a:t>실시간 보정 없이 기본 점수만 사용</a:t>
            </a:r>
            <a:endParaRPr lang="en-US" sz="890" dirty="0"/>
          </a:p>
        </p:txBody>
      </p:sp>
      <p:sp>
        <p:nvSpPr>
          <p:cNvPr id="19" name="Text 16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프로파일: 관광·문화유산과 발달상권의 실시간 보정 비교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장소별 base_score와 correction_score를 나눠 운영 포인트를 확인</a:t>
            </a:r>
            <a:endParaRPr lang="en-US" sz="1050" dirty="0"/>
          </a:p>
        </p:txBody>
      </p:sp>
      <p:pic>
        <p:nvPicPr>
          <p:cNvPr id="6" name="Image 0" descr="C:\Dev\projects\DeepLearning\documents\generated_analysis_assets\place_sc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10881360" cy="44988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59253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C6B73"/>
                </a:solidFill>
              </a:rPr>
              <a:t>왼쪽은 평시 상권 체력, 오른쪽은 실제 실시간 보정값이다. 두 지표는 단위와 범위가 달라 별도 x축으로 분리했다.</a:t>
            </a:r>
            <a:endParaRPr lang="en-US" sz="1040" dirty="0"/>
          </a:p>
        </p:txBody>
      </p:sp>
      <p:sp>
        <p:nvSpPr>
          <p:cNvPr id="8" name="Text 5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결과: 순위 활용 가능성과 데이터 보강 과제가 함께 확인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평가지표는 pseudo-label 및 소규모 실시간 관측의 한계를 전제로 해석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331720" cy="13258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00200"/>
            <a:ext cx="73152" cy="132588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764792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Base MLP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9476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RMSE 9.88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MAE 7.62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Spearman -0.34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3520440" y="1600200"/>
            <a:ext cx="2331720" cy="13258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600200"/>
            <a:ext cx="73152" cy="1325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764792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Correction LSTM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2075688"/>
            <a:ext cx="19476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RMSE 1.12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MAE 1.02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Spearman 0.50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4389120" cy="13258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00200"/>
            <a:ext cx="73152" cy="1325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6479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해석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075688"/>
            <a:ext cx="4005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Correction 순위상관은 양의 방향을 보였지만, Base는 참조 label 보강과 feature 품질 개선이 필요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868680" y="3794760"/>
            <a:ext cx="98755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목적은 절대 수요 예측보다 격자별 우선순위와 변화 신호 탐지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final_actual은 실제 관측 정답이라기보다 성능 점검용 참조값이므로 실제 운영 데이터 누적 후 재학습 필요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실제 방문·매출·혼잡 관측값이 들어오면 모델 검증력이 크게 개선될 수 있음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활용방안: 도시 운영과 소상공인 지원을 같은 지도 위에서 연결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격자별 활력 점수는 현장 대응, 방문 분산, 정책 타기팅의 공통 지표가 될 수 있음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3246120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572768"/>
            <a:ext cx="73152" cy="1371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73736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관광·방문 안내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2048256"/>
            <a:ext cx="2862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혼잡 예상 지역 주변 대체 동선, 시간대별 추천 지점 안내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4453128" y="1572768"/>
            <a:ext cx="3246120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3128" y="1572768"/>
            <a:ext cx="73152" cy="1371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73736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현장 운영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81728" y="2048256"/>
            <a:ext cx="2862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행사·날씨·교통 변화에 따른 인력 배치와 안전관리 우선순위 설정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8156448" y="1572768"/>
            <a:ext cx="3246120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572768"/>
            <a:ext cx="73152" cy="137160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73736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상권 정책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85048" y="2048256"/>
            <a:ext cx="2862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상권 회복·활성화 대상지 탐색과 홍보·쿠폰·이벤트 타이밍 설계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868680" y="3977640"/>
            <a:ext cx="10058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점수와 산출 방식을 함께 제공해 공공 담당자와 현장 운영자가 같은 기준으로 논의 가능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CSV·지도·히트맵 산출물이 분리되어 대시보드, 보고서, API 서비스로 확장하기 쉬움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보정값을 별도 관리하므로 단기 이벤트 효과와 장기 상권 잠재력을 구분 가능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고도화: 관측 확대, 실제 정답 축적, 서비스화가 다음 단계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구현은 작동 가능한 파이프라인이며 운영 데이터가 누적될수록 정밀도가 개선됨</a:t>
            </a:r>
            <a:endParaRPr lang="en-US" sz="10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08760"/>
          <a:ext cx="10607040" cy="2971800"/>
        </p:xfrm>
        <a:graphic>
          <a:graphicData uri="http://schemas.openxmlformats.org/drawingml/2006/table">
            <a:tbl>
              <a:tblPr/>
              <a:tblGrid>
                <a:gridCol w="4754880"/>
                <a:gridCol w="5852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방향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실시간 관측 격자 수가 20개로 제한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전역 장소 매핑 확대 및 API 호출 주기화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final_actual이 실제 완전 정답이 아닌 참조값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방문·매출·혼잡 관측값과 사후 검증 데이터 축적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전파 추정 구역의 불확실성 존재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confidence 기반 표기와 임계값별 정책 시나리오 분리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성능이 데이터 품질에 민감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특성 중요도, 시계열 길이, 공간 인접 특성 추가 실험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1508760"/>
            <a:ext cx="10607040" cy="45720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5166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A9D8F"/>
                </a:solidFill>
              </a:rPr>
              <a:t>다음 단계는 분석 결과를 배치 산출물에서 실시간 대시보드·알림형 서비스로 전환하는 것이다.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빅데이터 활용 경진대회 분석부문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데이터·도구·참고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9509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형식의 마지막 페이지에 활용 데이터, 분석툴, 참고 산출물을 정리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337560" cy="3566160"/>
          </a:xfrm>
          <a:prstGeom prst="roundRect">
            <a:avLst>
              <a:gd name="adj" fmla="val 822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73152" cy="356616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81912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데이터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892808"/>
            <a:ext cx="295351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서울시 빅데이터캠퍼스 제공 데이터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서울 실시간 도시데이터 OpenAPI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50m 격자·장소 매핑 산출물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행정구 경계 geojson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337560" cy="3566160"/>
          </a:xfrm>
          <a:prstGeom prst="roundRect">
            <a:avLst>
              <a:gd name="adj" fmla="val 822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17320"/>
            <a:ext cx="73152" cy="3566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581912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분석툴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892808"/>
            <a:ext cx="295351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Python, pandas, NumPy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scikit-learn, PyTorch, SciPy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Matplotlib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PptxGenJS / OOXML 산출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337560" cy="3566160"/>
          </a:xfrm>
          <a:prstGeom prst="roundRect">
            <a:avLst>
              <a:gd name="adj" fmla="val 822"/>
            </a:avLst>
          </a:prstGeom>
          <a:solidFill>
            <a:srgbClr val="FFFFFF"/>
          </a:solidFill>
          <a:ln w="12700">
            <a:solidFill>
              <a:srgbClr val="D8E2EA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417320"/>
            <a:ext cx="73152" cy="3566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581912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주요 코드·산출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1892808"/>
            <a:ext cx="295351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preprocess_seoul_grid_data.py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seoul_grid_vitality_pipeline.py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build_citywide_vitality_artifacts.py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B73"/>
                </a:solidFill>
              </a:rPr>
              <a:t>metrics_summary.json, final_scores.csv, heatmap.png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868680" y="562356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5C6B73"/>
                </a:solidFill>
              </a:rPr>
              <a:t>PPT 본문은 공정 심사를 위해 분석명과 분석결과 내용만으로 구성했다.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11356848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6A1"/>
                </a:solidFill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실시간 도시데이터 기반 서울 상권 활력 예측 및 의사결정 지원</dc:title>
  <dc:subject>2026 서울시 빅데이터 활용 경진대회 분석부문 분석결과서</dc:subject>
  <dc:creator>Codex</dc:creator>
  <cp:lastModifiedBy>Codex</cp:lastModifiedBy>
  <cp:revision>1</cp:revision>
  <dcterms:created xsi:type="dcterms:W3CDTF">2026-05-13T03:40:53Z</dcterms:created>
  <dcterms:modified xsi:type="dcterms:W3CDTF">2026-05-13T03:40:53Z</dcterms:modified>
</cp:coreProperties>
</file>